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eplit.com/pricing" TargetMode="External"/><Relationship Id="rId3" Type="http://schemas.openxmlformats.org/officeDocument/2006/relationships/hyperlink" Target="https://replit.com" TargetMode="External"/><Relationship Id="rId4" Type="http://schemas.openxmlformats.org/officeDocument/2006/relationships/hyperlink" Target="https://lovable.dev/pricing" TargetMode="External"/><Relationship Id="rId5" Type="http://schemas.openxmlformats.org/officeDocument/2006/relationships/hyperlink" Target="https://lovable.dev" TargetMode="External"/><Relationship Id="rId6" Type="http://schemas.openxmlformats.org/officeDocument/2006/relationships/hyperlink" Target="https://bolt.new/pricing" TargetMode="External"/><Relationship Id="rId7" Type="http://schemas.openxmlformats.org/officeDocument/2006/relationships/hyperlink" Target="https://bolt.new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ovable.dev/pricing" TargetMode="Externa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ovable.dev" TargetMode="External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eplit.com/pricing" TargetMode="External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eplit.com" TargetMode="External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olt.new/pricing" TargetMode="External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olt.new" TargetMode="Externa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1087120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Competitor pages · Oct 5–11</a:t>
            </a:r>
          </a:p>
          <a:p>
            <a:pPr>
              <a:spcBef>
                <a:spcPts val="600"/>
              </a:spcBef>
            </a:pPr>
            <a:r>
              <a:rPr sz="4200" b="0" spc="-189">
                <a:solidFill>
                  <a:srgbClr val="18181B"/>
                </a:solidFill>
                <a:latin typeface="Inter Tight"/>
              </a:rPr>
              <a:t>No price or limit changed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6964"/>
                </a:solidFill>
                <a:latin typeface="Inter"/>
              </a:rPr>
              <a:t>Lovable, Replit and Bolt · pricing pages and homepages</a:t>
            </a:r>
          </a:p>
          <a:p>
            <a:pPr>
              <a:spcBef>
                <a:spcPts val="24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600" b="1" u="sng">
                <a:solidFill>
                  <a:srgbClr val="6B6964"/>
                </a:solidFill>
                <a:latin typeface="Inter"/>
                <a:hlinkClick r:id="rId2"/>
              </a:rPr>
              <a:t>Replit pricing</a:t>
            </a:r>
            <a:r>
              <a:rPr sz="1600" b="0">
                <a:solidFill>
                  <a:srgbClr val="6B6964"/>
                </a:solidFill>
                <a:latin typeface="Inter"/>
              </a:rPr>
              <a:t>    1 wording edit</a:t>
            </a:r>
            <a:r>
              <a:rPr sz="1200" b="0">
                <a:solidFill>
                  <a:srgbClr val="6B6964"/>
                </a:solidFill>
                <a:latin typeface="Inter"/>
              </a:rPr>
              <a:t>    Oct 7</a:t>
            </a: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600" b="1" u="sng">
                <a:solidFill>
                  <a:srgbClr val="6B6964"/>
                </a:solidFill>
                <a:latin typeface="Inter"/>
                <a:hlinkClick r:id="rId3"/>
              </a:rPr>
              <a:t>Replit homepage</a:t>
            </a:r>
            <a:r>
              <a:rPr sz="1600" b="0">
                <a:solidFill>
                  <a:srgbClr val="6B6964"/>
                </a:solidFill>
                <a:latin typeface="Inter"/>
              </a:rPr>
              <a:t>    1 wording edit</a:t>
            </a:r>
            <a:r>
              <a:rPr sz="1200" b="0">
                <a:solidFill>
                  <a:srgbClr val="6B6964"/>
                </a:solidFill>
                <a:latin typeface="Inter"/>
              </a:rPr>
              <a:t>    Oct 7</a:t>
            </a: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   </a:t>
            </a:r>
            <a:r>
              <a:rPr sz="1400" b="0" u="sng">
                <a:solidFill>
                  <a:srgbClr val="44423E"/>
                </a:solidFill>
                <a:latin typeface="Inter"/>
                <a:hlinkClick r:id="rId4"/>
              </a:rPr>
              <a:t>Lovable pricing</a:t>
            </a:r>
            <a:r>
              <a:rPr sz="1400" b="0">
                <a:solidFill>
                  <a:srgbClr val="44423E"/>
                </a:solidFill>
                <a:latin typeface="Inter"/>
              </a:rPr>
              <a:t> · </a:t>
            </a:r>
            <a:r>
              <a:rPr sz="1400" b="0" u="sng">
                <a:solidFill>
                  <a:srgbClr val="44423E"/>
                </a:solidFill>
                <a:latin typeface="Inter"/>
                <a:hlinkClick r:id="rId5"/>
              </a:rPr>
              <a:t>Lovable homepage</a:t>
            </a:r>
            <a:r>
              <a:rPr sz="1400" b="0">
                <a:solidFill>
                  <a:srgbClr val="44423E"/>
                </a:solidFill>
                <a:latin typeface="Inter"/>
              </a:rPr>
              <a:t> · </a:t>
            </a:r>
            <a:r>
              <a:rPr sz="1400" b="0" u="sng">
                <a:solidFill>
                  <a:srgbClr val="44423E"/>
                </a:solidFill>
                <a:latin typeface="Inter"/>
                <a:hlinkClick r:id="rId6"/>
              </a:rPr>
              <a:t>Bolt pricing</a:t>
            </a:r>
            <a:r>
              <a:rPr sz="1400" b="0">
                <a:solidFill>
                  <a:srgbClr val="44423E"/>
                </a:solidFill>
                <a:latin typeface="Inter"/>
              </a:rPr>
              <a:t> · </a:t>
            </a:r>
            <a:r>
              <a:rPr sz="1400" b="0" u="sng">
                <a:solidFill>
                  <a:srgbClr val="44423E"/>
                </a:solidFill>
                <a:latin typeface="Inter"/>
                <a:hlinkClick r:id="rId7"/>
              </a:rPr>
              <a:t>Bolt homepage</a:t>
            </a:r>
          </a:p>
          <a:p>
            <a:pPr>
              <a:spcBef>
                <a:spcPts val="1400"/>
              </a:spcBef>
            </a:pPr>
            <a:r>
              <a:rPr sz="1000" b="0">
                <a:solidFill>
                  <a:srgbClr val="92400E"/>
                </a:solidFill>
                <a:latin typeface="Inter"/>
              </a:rPr>
              <a:t>■  </a:t>
            </a:r>
            <a:r>
              <a:rPr sz="1400" b="0">
                <a:solidFill>
                  <a:srgbClr val="44423E"/>
                </a:solidFill>
                <a:latin typeface="Inter"/>
              </a:rPr>
              <a:t>Check by hand    </a:t>
            </a:r>
            <a:r>
              <a:rPr sz="1400" b="0">
                <a:solidFill>
                  <a:srgbClr val="44423E"/>
                </a:solidFill>
                <a:latin typeface="Inter"/>
              </a:rPr>
              <a:t>All 6 screenshots come from the Wayback Machine (Oct 8–11), so some may be a few days old.</a:t>
            </a:r>
          </a:p>
          <a:p>
            <a:pPr>
              <a:spcBef>
                <a:spcPts val="1400"/>
              </a:spcBef>
            </a:pPr>
            <a:r>
              <a:rPr sz="1000" b="0">
                <a:solidFill>
                  <a:srgbClr val="92400E"/>
                </a:solidFill>
                <a:latin typeface="Inter"/>
              </a:rPr>
              <a:t>■  </a:t>
            </a:r>
            <a:r>
              <a:rPr sz="1400" b="0">
                <a:solidFill>
                  <a:srgbClr val="44423E"/>
                </a:solidFill>
                <a:latin typeface="Inter"/>
              </a:rPr>
              <a:t>Check by hand    </a:t>
            </a:r>
            <a:r>
              <a:rPr sz="1400" b="0">
                <a:solidFill>
                  <a:srgbClr val="44423E"/>
                </a:solidFill>
                <a:latin typeface="Inter"/>
              </a:rPr>
              <a:t>The Replit pricing screenshot shows yearly prices (the archived copy can't switch to Monthly).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12 · 6 pages · screenshots Oct 8–11 (6 archived copies)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Lovable · Pricing 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Lovable pricing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this week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lovable.dev/pricing</a:t>
            </a:r>
          </a:p>
        </p:txBody>
      </p:sp>
      <p:pic>
        <p:nvPicPr>
          <p:cNvPr id="4" name="Picture 3" descr="lovable-pricing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12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lovable.dev/pricing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10 · archived 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Lovable · Homepage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Lovable homepage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this week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lovable.dev</a:t>
            </a:r>
          </a:p>
        </p:txBody>
      </p:sp>
      <p:pic>
        <p:nvPicPr>
          <p:cNvPr id="4" name="Picture 3" descr="lovable-home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12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lovable.dev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8 · archived 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Replit · Pricing 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Replit pricing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Wording changed, no price or limit changed</a:t>
            </a:r>
          </a:p>
          <a:p>
            <a:pPr>
              <a:spcBef>
                <a:spcPts val="2400"/>
              </a:spcBef>
            </a:pPr>
            <a:r>
              <a:rPr sz="1250" b="1">
                <a:solidFill>
                  <a:srgbClr val="6B6964"/>
                </a:solidFill>
                <a:latin typeface="Inter"/>
              </a:rPr>
              <a:t>Core   </a:t>
            </a:r>
            <a:r>
              <a:rPr sz="750" b="1" cap="all" spc="45">
                <a:solidFill>
                  <a:srgbClr val="6B6964"/>
                </a:solidFill>
                <a:latin typeface="Inter"/>
              </a:rPr>
              <a:t>Wording   </a:t>
            </a:r>
            <a:r>
              <a:rPr sz="1250" b="0" strike="sngStrike">
                <a:solidFill>
                  <a:srgbClr val="6B6964"/>
                </a:solidFill>
                <a:latin typeface="Inter"/>
              </a:rPr>
              <a:t>$20 towards most powerful models</a:t>
            </a:r>
            <a:r>
              <a:rPr sz="1250" b="0">
                <a:solidFill>
                  <a:srgbClr val="8A8780"/>
                </a:solidFill>
                <a:latin typeface="Inter"/>
              </a:rPr>
              <a:t>  →  </a:t>
            </a:r>
            <a:r>
              <a:rPr sz="1250" b="0">
                <a:solidFill>
                  <a:srgbClr val="6B6964"/>
                </a:solidFill>
                <a:latin typeface="Inter"/>
              </a:rPr>
              <a:t>$20 towards more powerful models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replit.com/pricing</a:t>
            </a:r>
          </a:p>
        </p:txBody>
      </p:sp>
      <p:pic>
        <p:nvPicPr>
          <p:cNvPr id="4" name="Picture 3" descr="replit-pricing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12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replit.com/pricing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11 · archived copy · yearly prices shown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Replit · Homepage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Replit homepage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Wording changed, no price or limit changed</a:t>
            </a:r>
          </a:p>
          <a:p>
            <a:pPr>
              <a:spcBef>
                <a:spcPts val="2400"/>
              </a:spcBef>
            </a:pPr>
            <a:r>
              <a:rPr sz="1250" b="1">
                <a:solidFill>
                  <a:srgbClr val="6B6964"/>
                </a:solidFill>
                <a:latin typeface="Inter"/>
              </a:rPr>
              <a:t>Core   </a:t>
            </a:r>
            <a:r>
              <a:rPr sz="750" b="1" cap="all" spc="45">
                <a:solidFill>
                  <a:srgbClr val="6B6964"/>
                </a:solidFill>
                <a:latin typeface="Inter"/>
              </a:rPr>
              <a:t>Wording   </a:t>
            </a:r>
            <a:r>
              <a:rPr sz="1250" b="0" strike="sngStrike">
                <a:solidFill>
                  <a:srgbClr val="6B6964"/>
                </a:solidFill>
                <a:latin typeface="Inter"/>
              </a:rPr>
              <a:t>$20 towards most powerful models</a:t>
            </a:r>
            <a:r>
              <a:rPr sz="1250" b="0">
                <a:solidFill>
                  <a:srgbClr val="8A8780"/>
                </a:solidFill>
                <a:latin typeface="Inter"/>
              </a:rPr>
              <a:t>  →  </a:t>
            </a:r>
            <a:r>
              <a:rPr sz="1250" b="0">
                <a:solidFill>
                  <a:srgbClr val="6B6964"/>
                </a:solidFill>
                <a:latin typeface="Inter"/>
              </a:rPr>
              <a:t>$20 towards more powerful models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replit.com</a:t>
            </a:r>
          </a:p>
        </p:txBody>
      </p:sp>
      <p:pic>
        <p:nvPicPr>
          <p:cNvPr id="4" name="Picture 3" descr="replit-home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12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replit.com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11 · archived 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Bolt · Pricing 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Bolt pricing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this week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bolt.new/pricing</a:t>
            </a:r>
          </a:p>
        </p:txBody>
      </p:sp>
      <p:pic>
        <p:nvPicPr>
          <p:cNvPr id="4" name="Picture 3" descr="bolt-pricing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12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bolt.new/pricing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10 · archived 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Bolt · Homepage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Bolt homepage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this week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bolt.new</a:t>
            </a:r>
          </a:p>
        </p:txBody>
      </p:sp>
      <p:pic>
        <p:nvPicPr>
          <p:cNvPr id="4" name="Picture 3" descr="bolt-home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12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bolt.new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11 · archived 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4423E"/>
      </a:hlink>
      <a:folHlink>
        <a:srgbClr val="44423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