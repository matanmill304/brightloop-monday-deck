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bolt.new/pricing" TargetMode="External"/><Relationship Id="rId3" Type="http://schemas.openxmlformats.org/officeDocument/2006/relationships/hyperlink" Target="https://lovable.dev/pricing" TargetMode="External"/><Relationship Id="rId4" Type="http://schemas.openxmlformats.org/officeDocument/2006/relationships/hyperlink" Target="https://lovable.dev" TargetMode="External"/><Relationship Id="rId5" Type="http://schemas.openxmlformats.org/officeDocument/2006/relationships/hyperlink" Target="https://replit.com/pricing" TargetMode="External"/><Relationship Id="rId6" Type="http://schemas.openxmlformats.org/officeDocument/2006/relationships/hyperlink" Target="https://replit.com" TargetMode="External"/><Relationship Id="rId7" Type="http://schemas.openxmlformats.org/officeDocument/2006/relationships/hyperlink" Target="https://bolt.new" TargetMode="Externa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lovable.dev/pricing" TargetMode="External"/><Relationship Id="rId3" Type="http://schemas.openxmlformats.org/officeDocument/2006/relationships/image" Target="../media/image1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lovable.dev" TargetMode="External"/><Relationship Id="rId3" Type="http://schemas.openxmlformats.org/officeDocument/2006/relationships/image" Target="../media/image2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replit.com/pricing" TargetMode="External"/><Relationship Id="rId3" Type="http://schemas.openxmlformats.org/officeDocument/2006/relationships/image" Target="../media/image3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replit.com" TargetMode="External"/><Relationship Id="rId3" Type="http://schemas.openxmlformats.org/officeDocument/2006/relationships/image" Target="../media/image4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bolt.new/pricing" TargetMode="External"/><Relationship Id="rId3" Type="http://schemas.openxmlformats.org/officeDocument/2006/relationships/image" Target="../media/image5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bolt.new" TargetMode="External"/><Relationship Id="rId3" Type="http://schemas.openxmlformats.org/officeDocument/2006/relationships/image" Target="../media/image6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60400" y="609600"/>
            <a:ext cx="10871200" cy="5715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</a:pPr>
            <a:r>
              <a:rPr sz="900" b="0" cap="all" spc="90">
                <a:solidFill>
                  <a:srgbClr val="6B6964"/>
                </a:solidFill>
                <a:latin typeface="Inter"/>
              </a:rPr>
              <a:t>Competitor pages · Oct 19–25</a:t>
            </a:r>
          </a:p>
          <a:p>
            <a:pPr>
              <a:spcBef>
                <a:spcPts val="600"/>
              </a:spcBef>
            </a:pPr>
            <a:r>
              <a:rPr sz="4200" b="0" spc="-189">
                <a:solidFill>
                  <a:srgbClr val="18181B"/>
                </a:solidFill>
                <a:latin typeface="Inter Tight"/>
              </a:rPr>
              <a:t>1 of 6 pages changed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6B6964"/>
                </a:solidFill>
                <a:latin typeface="Inter"/>
              </a:rPr>
              <a:t>Lovable, Replit and Bolt · pricing pages and homepages</a:t>
            </a:r>
          </a:p>
          <a:p>
            <a:pPr>
              <a:spcBef>
                <a:spcPts val="2400"/>
              </a:spcBef>
            </a:pPr>
            <a:r>
              <a:rPr sz="1200" b="0">
                <a:solidFill>
                  <a:srgbClr val="FF6A00"/>
                </a:solidFill>
                <a:latin typeface="Inter"/>
              </a:rPr>
              <a:t>●  </a:t>
            </a:r>
            <a:r>
              <a:rPr sz="1600" b="1" u="sng">
                <a:solidFill>
                  <a:srgbClr val="18181B"/>
                </a:solidFill>
                <a:latin typeface="Inter"/>
                <a:hlinkClick r:id="rId2"/>
              </a:rPr>
              <a:t>Bolt pricing</a:t>
            </a:r>
            <a:r>
              <a:rPr sz="1600" b="0">
                <a:solidFill>
                  <a:srgbClr val="18181B"/>
                </a:solidFill>
                <a:latin typeface="Inter"/>
              </a:rPr>
              <a:t>    Free: "300K tokens daily limit" is no longer on the page</a:t>
            </a:r>
            <a:r>
              <a:rPr sz="1200" b="0">
                <a:solidFill>
                  <a:srgbClr val="6B6964"/>
                </a:solidFill>
                <a:latin typeface="Inter"/>
              </a:rPr>
              <a:t>    Oct 20</a:t>
            </a:r>
          </a:p>
          <a:p>
            <a:pPr>
              <a:spcBef>
                <a:spcPts val="200"/>
              </a:spcBef>
            </a:pPr>
            <a:r>
              <a:rPr sz="1200" b="0">
                <a:solidFill>
                  <a:srgbClr val="6B6964"/>
                </a:solidFill>
                <a:latin typeface="Inter"/>
              </a:rPr>
              <a:t>      Plus 2 wording edits</a:t>
            </a:r>
          </a:p>
          <a:p>
            <a:pPr>
              <a:spcBef>
                <a:spcPts val="1400"/>
              </a:spcBef>
            </a:pPr>
            <a:r>
              <a:rPr sz="1200" b="0">
                <a:solidFill>
                  <a:srgbClr val="D6D3CC"/>
                </a:solidFill>
                <a:latin typeface="Inter"/>
              </a:rPr>
              <a:t>●  </a:t>
            </a:r>
            <a:r>
              <a:rPr sz="1400" b="0">
                <a:solidFill>
                  <a:srgbClr val="44423E"/>
                </a:solidFill>
                <a:latin typeface="Inter"/>
              </a:rPr>
              <a:t>No change    </a:t>
            </a:r>
            <a:r>
              <a:rPr sz="1400" b="0" u="sng">
                <a:solidFill>
                  <a:srgbClr val="44423E"/>
                </a:solidFill>
                <a:latin typeface="Inter"/>
                <a:hlinkClick r:id="rId3"/>
              </a:rPr>
              <a:t>Lovable pricing</a:t>
            </a:r>
            <a:r>
              <a:rPr sz="1400" b="0">
                <a:solidFill>
                  <a:srgbClr val="44423E"/>
                </a:solidFill>
                <a:latin typeface="Inter"/>
              </a:rPr>
              <a:t> · </a:t>
            </a:r>
            <a:r>
              <a:rPr sz="1400" b="0" u="sng">
                <a:solidFill>
                  <a:srgbClr val="44423E"/>
                </a:solidFill>
                <a:latin typeface="Inter"/>
                <a:hlinkClick r:id="rId4"/>
              </a:rPr>
              <a:t>Lovable homepage</a:t>
            </a:r>
            <a:r>
              <a:rPr sz="1400" b="0">
                <a:solidFill>
                  <a:srgbClr val="44423E"/>
                </a:solidFill>
                <a:latin typeface="Inter"/>
              </a:rPr>
              <a:t> · </a:t>
            </a:r>
            <a:r>
              <a:rPr sz="1400" b="0" u="sng">
                <a:solidFill>
                  <a:srgbClr val="44423E"/>
                </a:solidFill>
                <a:latin typeface="Inter"/>
                <a:hlinkClick r:id="rId5"/>
              </a:rPr>
              <a:t>Replit pricing</a:t>
            </a:r>
            <a:r>
              <a:rPr sz="1400" b="0">
                <a:solidFill>
                  <a:srgbClr val="44423E"/>
                </a:solidFill>
                <a:latin typeface="Inter"/>
              </a:rPr>
              <a:t> · </a:t>
            </a:r>
            <a:r>
              <a:rPr sz="1400" b="0" u="sng">
                <a:solidFill>
                  <a:srgbClr val="44423E"/>
                </a:solidFill>
                <a:latin typeface="Inter"/>
                <a:hlinkClick r:id="rId6"/>
              </a:rPr>
              <a:t>Replit homepage</a:t>
            </a:r>
            <a:r>
              <a:rPr sz="1400" b="0">
                <a:solidFill>
                  <a:srgbClr val="44423E"/>
                </a:solidFill>
                <a:latin typeface="Inter"/>
              </a:rPr>
              <a:t> · </a:t>
            </a:r>
            <a:r>
              <a:rPr sz="1400" b="0" u="sng">
                <a:solidFill>
                  <a:srgbClr val="44423E"/>
                </a:solidFill>
                <a:latin typeface="Inter"/>
                <a:hlinkClick r:id="rId7"/>
              </a:rPr>
              <a:t>Bolt homepage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60400" y="6464300"/>
            <a:ext cx="8890000" cy="190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</a:pPr>
            <a:r>
              <a:rPr sz="900" b="0">
                <a:solidFill>
                  <a:srgbClr val="8A8780"/>
                </a:solidFill>
                <a:latin typeface="Inter"/>
              </a:rPr>
              <a:t>Deck for Mon, Oct 26 · 6 pages · screenshots Oct 25 (live)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26600" y="6464300"/>
            <a:ext cx="1905000" cy="190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Bef>
                <a:spcPts val="0"/>
              </a:spcBef>
            </a:pPr>
            <a:r>
              <a:rPr sz="900" b="0">
                <a:solidFill>
                  <a:srgbClr val="8A8780"/>
                </a:solidFill>
                <a:latin typeface="Inter"/>
              </a:rPr>
              <a:t>Competitor watch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60400" y="609600"/>
            <a:ext cx="3778250" cy="5715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</a:pPr>
            <a:r>
              <a:rPr sz="900" b="0" cap="all" spc="90">
                <a:solidFill>
                  <a:srgbClr val="6B6964"/>
                </a:solidFill>
                <a:latin typeface="Inter"/>
              </a:rPr>
              <a:t>Lovable · Pricing page</a:t>
            </a:r>
          </a:p>
          <a:p>
            <a:pPr>
              <a:spcBef>
                <a:spcPts val="600"/>
              </a:spcBef>
            </a:pPr>
            <a:r>
              <a:rPr sz="4000" b="0" spc="-179">
                <a:solidFill>
                  <a:srgbClr val="18181B"/>
                </a:solidFill>
                <a:latin typeface="Inter Tight"/>
              </a:rPr>
              <a:t>Lovable pricing</a:t>
            </a:r>
          </a:p>
          <a:p>
            <a:pPr>
              <a:spcBef>
                <a:spcPts val="1000"/>
              </a:spcBef>
            </a:pPr>
            <a:r>
              <a:rPr sz="1200" b="0">
                <a:solidFill>
                  <a:srgbClr val="D6D3CC"/>
                </a:solidFill>
                <a:latin typeface="Inter"/>
              </a:rPr>
              <a:t>●  </a:t>
            </a:r>
            <a:r>
              <a:rPr sz="1400" b="0">
                <a:solidFill>
                  <a:srgbClr val="44423E"/>
                </a:solidFill>
                <a:latin typeface="Inter"/>
              </a:rPr>
              <a:t>No change this week</a:t>
            </a:r>
          </a:p>
        </p:txBody>
      </p:sp>
      <p:sp>
        <p:nvSpPr>
          <p:cNvPr id="3" name="Rectangle 2">
            <a:hlinkClick r:id="rId2"/>
          </p:cNvPr>
          <p:cNvSpPr/>
          <p:nvPr/>
        </p:nvSpPr>
        <p:spPr>
          <a:xfrm>
            <a:off x="4972050" y="609600"/>
            <a:ext cx="6559550" cy="279400"/>
          </a:xfrm>
          <a:prstGeom prst="rect">
            <a:avLst/>
          </a:prstGeom>
          <a:solidFill>
            <a:srgbClr val="F7F6F3"/>
          </a:solidFill>
          <a:ln>
            <a:solidFill>
              <a:srgbClr val="ECEA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7000"/>
          <a:lstStyle/>
          <a:p>
            <a:pPr algn="l">
              <a:spcBef>
                <a:spcPts val="0"/>
              </a:spcBef>
            </a:pPr>
            <a:r>
              <a:rPr sz="900" b="0">
                <a:solidFill>
                  <a:srgbClr val="6B6964"/>
                </a:solidFill>
                <a:latin typeface="Geist Mono"/>
              </a:rPr>
              <a:t>lovable.dev/pricing</a:t>
            </a:r>
          </a:p>
        </p:txBody>
      </p:sp>
      <p:pic>
        <p:nvPicPr>
          <p:cNvPr id="4" name="Picture 3" descr="lovable-pricing.jp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72050" y="889000"/>
            <a:ext cx="6559550" cy="4555243"/>
          </a:xfrm>
          <a:prstGeom prst="rect">
            <a:avLst/>
          </a:prstGeom>
          <a:ln>
            <a:solidFill>
              <a:srgbClr val="ECEAE5"/>
            </a:solidFill>
          </a:ln>
        </p:spPr>
      </p:pic>
      <p:sp>
        <p:nvSpPr>
          <p:cNvPr id="5" name="TextBox 4"/>
          <p:cNvSpPr txBox="1"/>
          <p:nvPr/>
        </p:nvSpPr>
        <p:spPr>
          <a:xfrm>
            <a:off x="660400" y="6464300"/>
            <a:ext cx="8890000" cy="190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</a:pPr>
            <a:r>
              <a:rPr sz="900" b="0">
                <a:solidFill>
                  <a:srgbClr val="8A8780"/>
                </a:solidFill>
                <a:latin typeface="Inter"/>
              </a:rPr>
              <a:t>Deck for Mon, Oct 26 · Source: </a:t>
            </a:r>
            <a:r>
              <a:rPr sz="900" b="0" u="sng">
                <a:solidFill>
                  <a:srgbClr val="8A8780"/>
                </a:solidFill>
                <a:latin typeface="Inter"/>
                <a:hlinkClick r:id="rId2"/>
              </a:rPr>
              <a:t>lovable.dev/pricing</a:t>
            </a:r>
            <a:r>
              <a:rPr sz="900" b="0">
                <a:solidFill>
                  <a:srgbClr val="8A8780"/>
                </a:solidFill>
                <a:latin typeface="Inter"/>
              </a:rPr>
              <a:t> · Screenshot Oct 25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26600" y="6464300"/>
            <a:ext cx="1905000" cy="190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Bef>
                <a:spcPts val="0"/>
              </a:spcBef>
            </a:pPr>
            <a:r>
              <a:rPr sz="900" b="0">
                <a:solidFill>
                  <a:srgbClr val="8A8780"/>
                </a:solidFill>
                <a:latin typeface="Inter"/>
              </a:rPr>
              <a:t>Competitor watch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60400" y="609600"/>
            <a:ext cx="3778250" cy="5715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</a:pPr>
            <a:r>
              <a:rPr sz="900" b="0" cap="all" spc="90">
                <a:solidFill>
                  <a:srgbClr val="6B6964"/>
                </a:solidFill>
                <a:latin typeface="Inter"/>
              </a:rPr>
              <a:t>Lovable · Homepage</a:t>
            </a:r>
          </a:p>
          <a:p>
            <a:pPr>
              <a:spcBef>
                <a:spcPts val="600"/>
              </a:spcBef>
            </a:pPr>
            <a:r>
              <a:rPr sz="4000" b="0" spc="-179">
                <a:solidFill>
                  <a:srgbClr val="18181B"/>
                </a:solidFill>
                <a:latin typeface="Inter Tight"/>
              </a:rPr>
              <a:t>Lovable homepage</a:t>
            </a:r>
          </a:p>
          <a:p>
            <a:pPr>
              <a:spcBef>
                <a:spcPts val="1000"/>
              </a:spcBef>
            </a:pPr>
            <a:r>
              <a:rPr sz="1200" b="0">
                <a:solidFill>
                  <a:srgbClr val="D6D3CC"/>
                </a:solidFill>
                <a:latin typeface="Inter"/>
              </a:rPr>
              <a:t>●  </a:t>
            </a:r>
            <a:r>
              <a:rPr sz="1400" b="0">
                <a:solidFill>
                  <a:srgbClr val="44423E"/>
                </a:solidFill>
                <a:latin typeface="Inter"/>
              </a:rPr>
              <a:t>No change this week</a:t>
            </a:r>
          </a:p>
        </p:txBody>
      </p:sp>
      <p:sp>
        <p:nvSpPr>
          <p:cNvPr id="3" name="Rectangle 2">
            <a:hlinkClick r:id="rId2"/>
          </p:cNvPr>
          <p:cNvSpPr/>
          <p:nvPr/>
        </p:nvSpPr>
        <p:spPr>
          <a:xfrm>
            <a:off x="4972050" y="609600"/>
            <a:ext cx="6559550" cy="279400"/>
          </a:xfrm>
          <a:prstGeom prst="rect">
            <a:avLst/>
          </a:prstGeom>
          <a:solidFill>
            <a:srgbClr val="F7F6F3"/>
          </a:solidFill>
          <a:ln>
            <a:solidFill>
              <a:srgbClr val="ECEA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7000"/>
          <a:lstStyle/>
          <a:p>
            <a:pPr algn="l">
              <a:spcBef>
                <a:spcPts val="0"/>
              </a:spcBef>
            </a:pPr>
            <a:r>
              <a:rPr sz="900" b="0">
                <a:solidFill>
                  <a:srgbClr val="6B6964"/>
                </a:solidFill>
                <a:latin typeface="Geist Mono"/>
              </a:rPr>
              <a:t>lovable.dev</a:t>
            </a:r>
          </a:p>
        </p:txBody>
      </p:sp>
      <p:pic>
        <p:nvPicPr>
          <p:cNvPr id="4" name="Picture 3" descr="lovable-home.jp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72050" y="889000"/>
            <a:ext cx="6559550" cy="4555243"/>
          </a:xfrm>
          <a:prstGeom prst="rect">
            <a:avLst/>
          </a:prstGeom>
          <a:ln>
            <a:solidFill>
              <a:srgbClr val="ECEAE5"/>
            </a:solidFill>
          </a:ln>
        </p:spPr>
      </p:pic>
      <p:sp>
        <p:nvSpPr>
          <p:cNvPr id="5" name="TextBox 4"/>
          <p:cNvSpPr txBox="1"/>
          <p:nvPr/>
        </p:nvSpPr>
        <p:spPr>
          <a:xfrm>
            <a:off x="660400" y="6464300"/>
            <a:ext cx="8890000" cy="190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</a:pPr>
            <a:r>
              <a:rPr sz="900" b="0">
                <a:solidFill>
                  <a:srgbClr val="8A8780"/>
                </a:solidFill>
                <a:latin typeface="Inter"/>
              </a:rPr>
              <a:t>Deck for Mon, Oct 26 · Source: </a:t>
            </a:r>
            <a:r>
              <a:rPr sz="900" b="0" u="sng">
                <a:solidFill>
                  <a:srgbClr val="8A8780"/>
                </a:solidFill>
                <a:latin typeface="Inter"/>
                <a:hlinkClick r:id="rId2"/>
              </a:rPr>
              <a:t>lovable.dev</a:t>
            </a:r>
            <a:r>
              <a:rPr sz="900" b="0">
                <a:solidFill>
                  <a:srgbClr val="8A8780"/>
                </a:solidFill>
                <a:latin typeface="Inter"/>
              </a:rPr>
              <a:t> · Screenshot Oct 25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26600" y="6464300"/>
            <a:ext cx="1905000" cy="190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Bef>
                <a:spcPts val="0"/>
              </a:spcBef>
            </a:pPr>
            <a:r>
              <a:rPr sz="900" b="0">
                <a:solidFill>
                  <a:srgbClr val="8A8780"/>
                </a:solidFill>
                <a:latin typeface="Inter"/>
              </a:rPr>
              <a:t>Competitor watch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60400" y="609600"/>
            <a:ext cx="3778250" cy="5715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</a:pPr>
            <a:r>
              <a:rPr sz="900" b="0" cap="all" spc="90">
                <a:solidFill>
                  <a:srgbClr val="6B6964"/>
                </a:solidFill>
                <a:latin typeface="Inter"/>
              </a:rPr>
              <a:t>Replit · Pricing page</a:t>
            </a:r>
          </a:p>
          <a:p>
            <a:pPr>
              <a:spcBef>
                <a:spcPts val="600"/>
              </a:spcBef>
            </a:pPr>
            <a:r>
              <a:rPr sz="4000" b="0" spc="-179">
                <a:solidFill>
                  <a:srgbClr val="18181B"/>
                </a:solidFill>
                <a:latin typeface="Inter Tight"/>
              </a:rPr>
              <a:t>Replit pricing</a:t>
            </a:r>
          </a:p>
          <a:p>
            <a:pPr>
              <a:spcBef>
                <a:spcPts val="1000"/>
              </a:spcBef>
            </a:pPr>
            <a:r>
              <a:rPr sz="1200" b="0">
                <a:solidFill>
                  <a:srgbClr val="D6D3CC"/>
                </a:solidFill>
                <a:latin typeface="Inter"/>
              </a:rPr>
              <a:t>●  </a:t>
            </a:r>
            <a:r>
              <a:rPr sz="1400" b="0">
                <a:solidFill>
                  <a:srgbClr val="44423E"/>
                </a:solidFill>
                <a:latin typeface="Inter"/>
              </a:rPr>
              <a:t>No change this week</a:t>
            </a:r>
          </a:p>
        </p:txBody>
      </p:sp>
      <p:sp>
        <p:nvSpPr>
          <p:cNvPr id="3" name="Rectangle 2">
            <a:hlinkClick r:id="rId2"/>
          </p:cNvPr>
          <p:cNvSpPr/>
          <p:nvPr/>
        </p:nvSpPr>
        <p:spPr>
          <a:xfrm>
            <a:off x="4972050" y="609600"/>
            <a:ext cx="6559550" cy="279400"/>
          </a:xfrm>
          <a:prstGeom prst="rect">
            <a:avLst/>
          </a:prstGeom>
          <a:solidFill>
            <a:srgbClr val="F7F6F3"/>
          </a:solidFill>
          <a:ln>
            <a:solidFill>
              <a:srgbClr val="ECEA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7000"/>
          <a:lstStyle/>
          <a:p>
            <a:pPr algn="l">
              <a:spcBef>
                <a:spcPts val="0"/>
              </a:spcBef>
            </a:pPr>
            <a:r>
              <a:rPr sz="900" b="0">
                <a:solidFill>
                  <a:srgbClr val="6B6964"/>
                </a:solidFill>
                <a:latin typeface="Geist Mono"/>
              </a:rPr>
              <a:t>replit.com/pricing</a:t>
            </a:r>
          </a:p>
        </p:txBody>
      </p:sp>
      <p:pic>
        <p:nvPicPr>
          <p:cNvPr id="4" name="Picture 3" descr="replit-pricing.jp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72050" y="889000"/>
            <a:ext cx="6559550" cy="4555243"/>
          </a:xfrm>
          <a:prstGeom prst="rect">
            <a:avLst/>
          </a:prstGeom>
          <a:ln>
            <a:solidFill>
              <a:srgbClr val="ECEAE5"/>
            </a:solidFill>
          </a:ln>
        </p:spPr>
      </p:pic>
      <p:sp>
        <p:nvSpPr>
          <p:cNvPr id="5" name="TextBox 4"/>
          <p:cNvSpPr txBox="1"/>
          <p:nvPr/>
        </p:nvSpPr>
        <p:spPr>
          <a:xfrm>
            <a:off x="660400" y="6464300"/>
            <a:ext cx="8890000" cy="190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</a:pPr>
            <a:r>
              <a:rPr sz="900" b="0">
                <a:solidFill>
                  <a:srgbClr val="8A8780"/>
                </a:solidFill>
                <a:latin typeface="Inter"/>
              </a:rPr>
              <a:t>Deck for Mon, Oct 26 · Source: </a:t>
            </a:r>
            <a:r>
              <a:rPr sz="900" b="0" u="sng">
                <a:solidFill>
                  <a:srgbClr val="8A8780"/>
                </a:solidFill>
                <a:latin typeface="Inter"/>
                <a:hlinkClick r:id="rId2"/>
              </a:rPr>
              <a:t>replit.com/pricing</a:t>
            </a:r>
            <a:r>
              <a:rPr sz="900" b="0">
                <a:solidFill>
                  <a:srgbClr val="8A8780"/>
                </a:solidFill>
                <a:latin typeface="Inter"/>
              </a:rPr>
              <a:t> · Screenshot Oct 25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26600" y="6464300"/>
            <a:ext cx="1905000" cy="190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Bef>
                <a:spcPts val="0"/>
              </a:spcBef>
            </a:pPr>
            <a:r>
              <a:rPr sz="900" b="0">
                <a:solidFill>
                  <a:srgbClr val="8A8780"/>
                </a:solidFill>
                <a:latin typeface="Inter"/>
              </a:rPr>
              <a:t>Competitor watch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60400" y="609600"/>
            <a:ext cx="3778250" cy="5715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</a:pPr>
            <a:r>
              <a:rPr sz="900" b="0" cap="all" spc="90">
                <a:solidFill>
                  <a:srgbClr val="6B6964"/>
                </a:solidFill>
                <a:latin typeface="Inter"/>
              </a:rPr>
              <a:t>Replit · Homepage</a:t>
            </a:r>
          </a:p>
          <a:p>
            <a:pPr>
              <a:spcBef>
                <a:spcPts val="600"/>
              </a:spcBef>
            </a:pPr>
            <a:r>
              <a:rPr sz="4000" b="0" spc="-179">
                <a:solidFill>
                  <a:srgbClr val="18181B"/>
                </a:solidFill>
                <a:latin typeface="Inter Tight"/>
              </a:rPr>
              <a:t>Replit homepage</a:t>
            </a:r>
          </a:p>
          <a:p>
            <a:pPr>
              <a:spcBef>
                <a:spcPts val="1000"/>
              </a:spcBef>
            </a:pPr>
            <a:r>
              <a:rPr sz="1200" b="0">
                <a:solidFill>
                  <a:srgbClr val="D6D3CC"/>
                </a:solidFill>
                <a:latin typeface="Inter"/>
              </a:rPr>
              <a:t>●  </a:t>
            </a:r>
            <a:r>
              <a:rPr sz="1400" b="0">
                <a:solidFill>
                  <a:srgbClr val="44423E"/>
                </a:solidFill>
                <a:latin typeface="Inter"/>
              </a:rPr>
              <a:t>No change this week</a:t>
            </a:r>
          </a:p>
        </p:txBody>
      </p:sp>
      <p:sp>
        <p:nvSpPr>
          <p:cNvPr id="3" name="Rectangle 2">
            <a:hlinkClick r:id="rId2"/>
          </p:cNvPr>
          <p:cNvSpPr/>
          <p:nvPr/>
        </p:nvSpPr>
        <p:spPr>
          <a:xfrm>
            <a:off x="4972050" y="609600"/>
            <a:ext cx="6559550" cy="279400"/>
          </a:xfrm>
          <a:prstGeom prst="rect">
            <a:avLst/>
          </a:prstGeom>
          <a:solidFill>
            <a:srgbClr val="F7F6F3"/>
          </a:solidFill>
          <a:ln>
            <a:solidFill>
              <a:srgbClr val="ECEA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7000"/>
          <a:lstStyle/>
          <a:p>
            <a:pPr algn="l">
              <a:spcBef>
                <a:spcPts val="0"/>
              </a:spcBef>
            </a:pPr>
            <a:r>
              <a:rPr sz="900" b="0">
                <a:solidFill>
                  <a:srgbClr val="6B6964"/>
                </a:solidFill>
                <a:latin typeface="Geist Mono"/>
              </a:rPr>
              <a:t>replit.com</a:t>
            </a:r>
          </a:p>
        </p:txBody>
      </p:sp>
      <p:pic>
        <p:nvPicPr>
          <p:cNvPr id="4" name="Picture 3" descr="replit-home.jp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72050" y="889000"/>
            <a:ext cx="6559550" cy="4555243"/>
          </a:xfrm>
          <a:prstGeom prst="rect">
            <a:avLst/>
          </a:prstGeom>
          <a:ln>
            <a:solidFill>
              <a:srgbClr val="ECEAE5"/>
            </a:solidFill>
          </a:ln>
        </p:spPr>
      </p:pic>
      <p:sp>
        <p:nvSpPr>
          <p:cNvPr id="5" name="TextBox 4"/>
          <p:cNvSpPr txBox="1"/>
          <p:nvPr/>
        </p:nvSpPr>
        <p:spPr>
          <a:xfrm>
            <a:off x="660400" y="6464300"/>
            <a:ext cx="8890000" cy="190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</a:pPr>
            <a:r>
              <a:rPr sz="900" b="0">
                <a:solidFill>
                  <a:srgbClr val="8A8780"/>
                </a:solidFill>
                <a:latin typeface="Inter"/>
              </a:rPr>
              <a:t>Deck for Mon, Oct 26 · Source: </a:t>
            </a:r>
            <a:r>
              <a:rPr sz="900" b="0" u="sng">
                <a:solidFill>
                  <a:srgbClr val="8A8780"/>
                </a:solidFill>
                <a:latin typeface="Inter"/>
                <a:hlinkClick r:id="rId2"/>
              </a:rPr>
              <a:t>replit.com</a:t>
            </a:r>
            <a:r>
              <a:rPr sz="900" b="0">
                <a:solidFill>
                  <a:srgbClr val="8A8780"/>
                </a:solidFill>
                <a:latin typeface="Inter"/>
              </a:rPr>
              <a:t> · Screenshot Oct 25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26600" y="6464300"/>
            <a:ext cx="1905000" cy="190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Bef>
                <a:spcPts val="0"/>
              </a:spcBef>
            </a:pPr>
            <a:r>
              <a:rPr sz="900" b="0">
                <a:solidFill>
                  <a:srgbClr val="8A8780"/>
                </a:solidFill>
                <a:latin typeface="Inter"/>
              </a:rPr>
              <a:t>Competitor watch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60400" y="609600"/>
            <a:ext cx="3778250" cy="5715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</a:pPr>
            <a:r>
              <a:rPr sz="900" b="0" cap="all" spc="90">
                <a:solidFill>
                  <a:srgbClr val="6B6964"/>
                </a:solidFill>
                <a:latin typeface="Inter"/>
              </a:rPr>
              <a:t>Bolt · Pricing page</a:t>
            </a:r>
          </a:p>
          <a:p>
            <a:pPr>
              <a:spcBef>
                <a:spcPts val="600"/>
              </a:spcBef>
            </a:pPr>
            <a:r>
              <a:rPr sz="4000" b="0" spc="-179">
                <a:solidFill>
                  <a:srgbClr val="18181B"/>
                </a:solidFill>
                <a:latin typeface="Inter Tight"/>
              </a:rPr>
              <a:t>Bolt pricing</a:t>
            </a:r>
          </a:p>
          <a:p>
            <a:pPr>
              <a:spcBef>
                <a:spcPts val="1000"/>
              </a:spcBef>
            </a:pPr>
            <a:r>
              <a:rPr sz="1200" b="0">
                <a:solidFill>
                  <a:srgbClr val="FF6A00"/>
                </a:solidFill>
                <a:latin typeface="Inter"/>
              </a:rPr>
              <a:t>●  </a:t>
            </a:r>
            <a:r>
              <a:rPr sz="1400" b="0">
                <a:solidFill>
                  <a:srgbClr val="44423E"/>
                </a:solidFill>
                <a:latin typeface="Inter"/>
              </a:rPr>
              <a:t>Changed this week · 1 change, 2 wording edits</a:t>
            </a:r>
          </a:p>
          <a:p>
            <a:pPr>
              <a:spcBef>
                <a:spcPts val="2400"/>
              </a:spcBef>
            </a:pPr>
            <a:r>
              <a:rPr sz="1250" b="1">
                <a:solidFill>
                  <a:srgbClr val="18181B"/>
                </a:solidFill>
                <a:latin typeface="Inter"/>
              </a:rPr>
              <a:t>Free   </a:t>
            </a:r>
            <a:r>
              <a:rPr sz="750" b="1" cap="all" spc="45">
                <a:solidFill>
                  <a:srgbClr val="9A3412"/>
                </a:solidFill>
                <a:latin typeface="Inter"/>
              </a:rPr>
              <a:t>Removed   </a:t>
            </a:r>
            <a:r>
              <a:rPr sz="1250" b="0" strike="sngStrike">
                <a:solidFill>
                  <a:srgbClr val="6B6964"/>
                </a:solidFill>
                <a:latin typeface="Inter"/>
              </a:rPr>
              <a:t>300K tokens daily limit</a:t>
            </a:r>
          </a:p>
          <a:p>
            <a:pPr>
              <a:spcBef>
                <a:spcPts val="1000"/>
              </a:spcBef>
            </a:pPr>
            <a:r>
              <a:rPr sz="1250" b="1">
                <a:solidFill>
                  <a:srgbClr val="6B6964"/>
                </a:solidFill>
                <a:latin typeface="Inter"/>
              </a:rPr>
              <a:t>Free   </a:t>
            </a:r>
            <a:r>
              <a:rPr sz="750" b="1" cap="all" spc="45">
                <a:solidFill>
                  <a:srgbClr val="6B6964"/>
                </a:solidFill>
                <a:latin typeface="Inter"/>
              </a:rPr>
              <a:t>Wording   </a:t>
            </a:r>
            <a:r>
              <a:rPr sz="1250" b="0" strike="sngStrike">
                <a:solidFill>
                  <a:srgbClr val="6B6964"/>
                </a:solidFill>
                <a:latin typeface="Inter"/>
              </a:rPr>
              <a:t>1M tokens per month</a:t>
            </a:r>
            <a:r>
              <a:rPr sz="1250" b="0">
                <a:solidFill>
                  <a:srgbClr val="8A8780"/>
                </a:solidFill>
                <a:latin typeface="Inter"/>
              </a:rPr>
              <a:t>  →  </a:t>
            </a:r>
            <a:r>
              <a:rPr sz="1250" b="0">
                <a:solidFill>
                  <a:srgbClr val="6B6964"/>
                </a:solidFill>
                <a:latin typeface="Inter"/>
              </a:rPr>
              <a:t>1M tokens/month to try Bolt</a:t>
            </a:r>
          </a:p>
          <a:p>
            <a:pPr>
              <a:spcBef>
                <a:spcPts val="1000"/>
              </a:spcBef>
            </a:pPr>
            <a:r>
              <a:rPr sz="1250" b="1">
                <a:solidFill>
                  <a:srgbClr val="6B6964"/>
                </a:solidFill>
                <a:latin typeface="Inter"/>
              </a:rPr>
              <a:t>Pro   </a:t>
            </a:r>
            <a:r>
              <a:rPr sz="750" b="1" cap="all" spc="45">
                <a:solidFill>
                  <a:srgbClr val="6B6964"/>
                </a:solidFill>
                <a:latin typeface="Inter"/>
              </a:rPr>
              <a:t>Wording   </a:t>
            </a:r>
            <a:r>
              <a:rPr sz="1250" b="0" strike="sngStrike">
                <a:solidFill>
                  <a:srgbClr val="6B6964"/>
                </a:solidFill>
                <a:latin typeface="Inter"/>
              </a:rPr>
              <a:t>Start at 10M tokens per month</a:t>
            </a:r>
            <a:r>
              <a:rPr sz="1250" b="0">
                <a:solidFill>
                  <a:srgbClr val="8A8780"/>
                </a:solidFill>
                <a:latin typeface="Inter"/>
              </a:rPr>
              <a:t>  →  </a:t>
            </a:r>
            <a:r>
              <a:rPr sz="1250" b="0">
                <a:solidFill>
                  <a:srgbClr val="6B6964"/>
                </a:solidFill>
                <a:latin typeface="Inter"/>
              </a:rPr>
              <a:t>10M tokens/month, rollover included</a:t>
            </a:r>
          </a:p>
        </p:txBody>
      </p:sp>
      <p:sp>
        <p:nvSpPr>
          <p:cNvPr id="3" name="Rectangle 2">
            <a:hlinkClick r:id="rId2"/>
          </p:cNvPr>
          <p:cNvSpPr/>
          <p:nvPr/>
        </p:nvSpPr>
        <p:spPr>
          <a:xfrm>
            <a:off x="4972050" y="609600"/>
            <a:ext cx="6559550" cy="279400"/>
          </a:xfrm>
          <a:prstGeom prst="rect">
            <a:avLst/>
          </a:prstGeom>
          <a:solidFill>
            <a:srgbClr val="F7F6F3"/>
          </a:solidFill>
          <a:ln>
            <a:solidFill>
              <a:srgbClr val="ECEA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7000"/>
          <a:lstStyle/>
          <a:p>
            <a:pPr algn="l">
              <a:spcBef>
                <a:spcPts val="0"/>
              </a:spcBef>
            </a:pPr>
            <a:r>
              <a:rPr sz="900" b="0">
                <a:solidFill>
                  <a:srgbClr val="6B6964"/>
                </a:solidFill>
                <a:latin typeface="Geist Mono"/>
              </a:rPr>
              <a:t>bolt.new/pricing</a:t>
            </a:r>
          </a:p>
        </p:txBody>
      </p:sp>
      <p:pic>
        <p:nvPicPr>
          <p:cNvPr id="4" name="Picture 3" descr="bolt-pricing.jp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72050" y="889000"/>
            <a:ext cx="6559550" cy="4555243"/>
          </a:xfrm>
          <a:prstGeom prst="rect">
            <a:avLst/>
          </a:prstGeom>
          <a:ln>
            <a:solidFill>
              <a:srgbClr val="ECEAE5"/>
            </a:solidFill>
          </a:ln>
        </p:spPr>
      </p:pic>
      <p:sp>
        <p:nvSpPr>
          <p:cNvPr id="5" name="TextBox 4"/>
          <p:cNvSpPr txBox="1"/>
          <p:nvPr/>
        </p:nvSpPr>
        <p:spPr>
          <a:xfrm>
            <a:off x="660400" y="6464300"/>
            <a:ext cx="8890000" cy="190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</a:pPr>
            <a:r>
              <a:rPr sz="900" b="0">
                <a:solidFill>
                  <a:srgbClr val="8A8780"/>
                </a:solidFill>
                <a:latin typeface="Inter"/>
              </a:rPr>
              <a:t>Deck for Mon, Oct 26 · Source: </a:t>
            </a:r>
            <a:r>
              <a:rPr sz="900" b="0" u="sng">
                <a:solidFill>
                  <a:srgbClr val="8A8780"/>
                </a:solidFill>
                <a:latin typeface="Inter"/>
                <a:hlinkClick r:id="rId2"/>
              </a:rPr>
              <a:t>bolt.new/pricing</a:t>
            </a:r>
            <a:r>
              <a:rPr sz="900" b="0">
                <a:solidFill>
                  <a:srgbClr val="8A8780"/>
                </a:solidFill>
                <a:latin typeface="Inter"/>
              </a:rPr>
              <a:t> · Screenshot Oct 25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26600" y="6464300"/>
            <a:ext cx="1905000" cy="190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Bef>
                <a:spcPts val="0"/>
              </a:spcBef>
            </a:pPr>
            <a:r>
              <a:rPr sz="900" b="0">
                <a:solidFill>
                  <a:srgbClr val="8A8780"/>
                </a:solidFill>
                <a:latin typeface="Inter"/>
              </a:rPr>
              <a:t>Competitor watch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60400" y="609600"/>
            <a:ext cx="3778250" cy="5715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</a:pPr>
            <a:r>
              <a:rPr sz="900" b="0" cap="all" spc="90">
                <a:solidFill>
                  <a:srgbClr val="6B6964"/>
                </a:solidFill>
                <a:latin typeface="Inter"/>
              </a:rPr>
              <a:t>Bolt · Homepage</a:t>
            </a:r>
          </a:p>
          <a:p>
            <a:pPr>
              <a:spcBef>
                <a:spcPts val="600"/>
              </a:spcBef>
            </a:pPr>
            <a:r>
              <a:rPr sz="4000" b="0" spc="-179">
                <a:solidFill>
                  <a:srgbClr val="18181B"/>
                </a:solidFill>
                <a:latin typeface="Inter Tight"/>
              </a:rPr>
              <a:t>Bolt homepage</a:t>
            </a:r>
          </a:p>
          <a:p>
            <a:pPr>
              <a:spcBef>
                <a:spcPts val="1000"/>
              </a:spcBef>
            </a:pPr>
            <a:r>
              <a:rPr sz="1200" b="0">
                <a:solidFill>
                  <a:srgbClr val="D6D3CC"/>
                </a:solidFill>
                <a:latin typeface="Inter"/>
              </a:rPr>
              <a:t>●  </a:t>
            </a:r>
            <a:r>
              <a:rPr sz="1400" b="0">
                <a:solidFill>
                  <a:srgbClr val="44423E"/>
                </a:solidFill>
                <a:latin typeface="Inter"/>
              </a:rPr>
              <a:t>No change this week</a:t>
            </a:r>
          </a:p>
        </p:txBody>
      </p:sp>
      <p:sp>
        <p:nvSpPr>
          <p:cNvPr id="3" name="Rectangle 2">
            <a:hlinkClick r:id="rId2"/>
          </p:cNvPr>
          <p:cNvSpPr/>
          <p:nvPr/>
        </p:nvSpPr>
        <p:spPr>
          <a:xfrm>
            <a:off x="4972050" y="609600"/>
            <a:ext cx="6559550" cy="279400"/>
          </a:xfrm>
          <a:prstGeom prst="rect">
            <a:avLst/>
          </a:prstGeom>
          <a:solidFill>
            <a:srgbClr val="F7F6F3"/>
          </a:solidFill>
          <a:ln>
            <a:solidFill>
              <a:srgbClr val="ECEA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7000"/>
          <a:lstStyle/>
          <a:p>
            <a:pPr algn="l">
              <a:spcBef>
                <a:spcPts val="0"/>
              </a:spcBef>
            </a:pPr>
            <a:r>
              <a:rPr sz="900" b="0">
                <a:solidFill>
                  <a:srgbClr val="6B6964"/>
                </a:solidFill>
                <a:latin typeface="Geist Mono"/>
              </a:rPr>
              <a:t>bolt.new</a:t>
            </a:r>
          </a:p>
        </p:txBody>
      </p:sp>
      <p:pic>
        <p:nvPicPr>
          <p:cNvPr id="4" name="Picture 3" descr="bolt-home.jp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72050" y="889000"/>
            <a:ext cx="6559550" cy="4555243"/>
          </a:xfrm>
          <a:prstGeom prst="rect">
            <a:avLst/>
          </a:prstGeom>
          <a:ln>
            <a:solidFill>
              <a:srgbClr val="ECEAE5"/>
            </a:solidFill>
          </a:ln>
        </p:spPr>
      </p:pic>
      <p:sp>
        <p:nvSpPr>
          <p:cNvPr id="5" name="TextBox 4"/>
          <p:cNvSpPr txBox="1"/>
          <p:nvPr/>
        </p:nvSpPr>
        <p:spPr>
          <a:xfrm>
            <a:off x="660400" y="6464300"/>
            <a:ext cx="8890000" cy="190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</a:pPr>
            <a:r>
              <a:rPr sz="900" b="0">
                <a:solidFill>
                  <a:srgbClr val="8A8780"/>
                </a:solidFill>
                <a:latin typeface="Inter"/>
              </a:rPr>
              <a:t>Deck for Mon, Oct 26 · Source: </a:t>
            </a:r>
            <a:r>
              <a:rPr sz="900" b="0" u="sng">
                <a:solidFill>
                  <a:srgbClr val="8A8780"/>
                </a:solidFill>
                <a:latin typeface="Inter"/>
                <a:hlinkClick r:id="rId2"/>
              </a:rPr>
              <a:t>bolt.new</a:t>
            </a:r>
            <a:r>
              <a:rPr sz="900" b="0">
                <a:solidFill>
                  <a:srgbClr val="8A8780"/>
                </a:solidFill>
                <a:latin typeface="Inter"/>
              </a:rPr>
              <a:t> · Screenshot Oct 25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26600" y="6464300"/>
            <a:ext cx="1905000" cy="190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Bef>
                <a:spcPts val="0"/>
              </a:spcBef>
            </a:pPr>
            <a:r>
              <a:rPr sz="900" b="0">
                <a:solidFill>
                  <a:srgbClr val="8A8780"/>
                </a:solidFill>
                <a:latin typeface="Inter"/>
              </a:rPr>
              <a:t>Competitor watch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44423E"/>
      </a:hlink>
      <a:folHlink>
        <a:srgbClr val="44423E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