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olt.new/pricing" TargetMode="External"/><Relationship Id="rId3" Type="http://schemas.openxmlformats.org/officeDocument/2006/relationships/hyperlink" Target="https://lovable.dev/pricing" TargetMode="External"/><Relationship Id="rId4" Type="http://schemas.openxmlformats.org/officeDocument/2006/relationships/hyperlink" Target="https://lovable.dev" TargetMode="External"/><Relationship Id="rId5" Type="http://schemas.openxmlformats.org/officeDocument/2006/relationships/hyperlink" Target="https://replit.com/pricing" TargetMode="External"/><Relationship Id="rId6" Type="http://schemas.openxmlformats.org/officeDocument/2006/relationships/hyperlink" Target="https://replit.com" TargetMode="External"/><Relationship Id="rId7" Type="http://schemas.openxmlformats.org/officeDocument/2006/relationships/hyperlink" Target="https://bolt.new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ovable.dev/pricing" TargetMode="Externa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ovable.dev" TargetMode="Externa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plit.com/pricing" TargetMode="Externa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plit.com" TargetMode="External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olt.new/pricing" TargetMode="External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olt.new" TargetMode="External"/><Relationship Id="rId3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1087120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Competitor pages · Oct 19–25</a:t>
            </a:r>
          </a:p>
          <a:p>
            <a:pPr>
              <a:spcBef>
                <a:spcPts val="600"/>
              </a:spcBef>
            </a:pPr>
            <a:r>
              <a:rPr sz="4200" b="0" spc="-189">
                <a:solidFill>
                  <a:srgbClr val="18181B"/>
                </a:solidFill>
                <a:latin typeface="Inter Tight"/>
              </a:rPr>
              <a:t>1 of 6 pages changed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6B6964"/>
                </a:solidFill>
                <a:latin typeface="Inter"/>
              </a:rPr>
              <a:t>Lovable, Replit and Bolt · pricing pages and homepages</a:t>
            </a:r>
          </a:p>
          <a:p>
            <a:pPr>
              <a:spcBef>
                <a:spcPts val="2400"/>
              </a:spcBef>
            </a:pPr>
            <a:r>
              <a:rPr sz="1200" b="0">
                <a:solidFill>
                  <a:srgbClr val="FF6A00"/>
                </a:solidFill>
                <a:latin typeface="Inter"/>
              </a:rPr>
              <a:t>●  </a:t>
            </a:r>
            <a:r>
              <a:rPr sz="1600" b="1" u="sng">
                <a:solidFill>
                  <a:srgbClr val="18181B"/>
                </a:solidFill>
                <a:latin typeface="Inter"/>
                <a:hlinkClick r:id="rId2"/>
              </a:rPr>
              <a:t>Bolt pricing</a:t>
            </a:r>
            <a:r>
              <a:rPr sz="1600" b="0">
                <a:solidFill>
                  <a:srgbClr val="18181B"/>
                </a:solidFill>
                <a:latin typeface="Inter"/>
              </a:rPr>
              <a:t>    Free: "300K tokens daily limit" is no longer on the page</a:t>
            </a:r>
            <a:r>
              <a:rPr sz="1200" b="0">
                <a:solidFill>
                  <a:srgbClr val="6B6964"/>
                </a:solidFill>
                <a:latin typeface="Inter"/>
              </a:rPr>
              <a:t>    Oct 20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6B6964"/>
                </a:solidFill>
                <a:latin typeface="Inter"/>
              </a:rPr>
              <a:t>      Plus 2 wording edits</a:t>
            </a:r>
          </a:p>
          <a:p>
            <a:pPr>
              <a:spcBef>
                <a:spcPts val="14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   </a:t>
            </a:r>
            <a:r>
              <a:rPr sz="1400" b="0" u="sng">
                <a:solidFill>
                  <a:srgbClr val="44423E"/>
                </a:solidFill>
                <a:latin typeface="Inter"/>
                <a:hlinkClick r:id="rId3"/>
              </a:rPr>
              <a:t>Lovable pricing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4"/>
              </a:rPr>
              <a:t>Lovable homepage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5"/>
              </a:rPr>
              <a:t>Replit pricing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6"/>
              </a:rPr>
              <a:t>Replit homepage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7"/>
              </a:rPr>
              <a:t>Bolt homepage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Week in progress · 6 pages · screenshots Oct 23 (live)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Lovable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Lovable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lovable.dev/pricing</a:t>
            </a:r>
          </a:p>
        </p:txBody>
      </p:sp>
      <p:pic>
        <p:nvPicPr>
          <p:cNvPr id="4" name="Picture 3" descr="lovable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Week in progress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lovable.dev/pricing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Lovable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Lovable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lovable.dev</a:t>
            </a:r>
          </a:p>
        </p:txBody>
      </p:sp>
      <p:pic>
        <p:nvPicPr>
          <p:cNvPr id="4" name="Picture 3" descr="lovable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Week in progress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lovable.dev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Replit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Replit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replit.com/pricing</a:t>
            </a:r>
          </a:p>
        </p:txBody>
      </p:sp>
      <p:pic>
        <p:nvPicPr>
          <p:cNvPr id="4" name="Picture 3" descr="replit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Week in progress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replit.com/pricing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Replit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Replit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replit.com</a:t>
            </a:r>
          </a:p>
        </p:txBody>
      </p:sp>
      <p:pic>
        <p:nvPicPr>
          <p:cNvPr id="4" name="Picture 3" descr="replit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Week in progress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replit.com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Bolt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Bolt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FF6A00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Changed this week · 1 change, 2 wording edits</a:t>
            </a:r>
          </a:p>
          <a:p>
            <a:pPr>
              <a:spcBef>
                <a:spcPts val="2400"/>
              </a:spcBef>
            </a:pPr>
            <a:r>
              <a:rPr sz="1250" b="1">
                <a:solidFill>
                  <a:srgbClr val="18181B"/>
                </a:solidFill>
                <a:latin typeface="Inter"/>
              </a:rPr>
              <a:t>Free   </a:t>
            </a:r>
            <a:r>
              <a:rPr sz="750" b="1" cap="all" spc="45">
                <a:solidFill>
                  <a:srgbClr val="9A3412"/>
                </a:solidFill>
                <a:latin typeface="Inter"/>
              </a:rPr>
              <a:t>Removed   </a:t>
            </a:r>
            <a:r>
              <a:rPr sz="1250" b="0" strike="sngStrike">
                <a:solidFill>
                  <a:srgbClr val="6B6964"/>
                </a:solidFill>
                <a:latin typeface="Inter"/>
              </a:rPr>
              <a:t>300K tokens daily limit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6B6964"/>
                </a:solidFill>
                <a:latin typeface="Inter"/>
              </a:rPr>
              <a:t>Free   </a:t>
            </a:r>
            <a:r>
              <a:rPr sz="750" b="1" cap="all" spc="45">
                <a:solidFill>
                  <a:srgbClr val="6B6964"/>
                </a:solidFill>
                <a:latin typeface="Inter"/>
              </a:rPr>
              <a:t>Wording   </a:t>
            </a:r>
            <a:r>
              <a:rPr sz="1250" b="0" strike="sngStrike">
                <a:solidFill>
                  <a:srgbClr val="6B6964"/>
                </a:solidFill>
                <a:latin typeface="Inter"/>
              </a:rPr>
              <a:t>1M tokens per month</a:t>
            </a:r>
            <a:r>
              <a:rPr sz="1250" b="0">
                <a:solidFill>
                  <a:srgbClr val="8A8780"/>
                </a:solidFill>
                <a:latin typeface="Inter"/>
              </a:rPr>
              <a:t>  →  </a:t>
            </a:r>
            <a:r>
              <a:rPr sz="1250" b="0">
                <a:solidFill>
                  <a:srgbClr val="6B6964"/>
                </a:solidFill>
                <a:latin typeface="Inter"/>
              </a:rPr>
              <a:t>1M tokens/month to try Bolt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6B6964"/>
                </a:solidFill>
                <a:latin typeface="Inter"/>
              </a:rPr>
              <a:t>Pro   </a:t>
            </a:r>
            <a:r>
              <a:rPr sz="750" b="1" cap="all" spc="45">
                <a:solidFill>
                  <a:srgbClr val="6B6964"/>
                </a:solidFill>
                <a:latin typeface="Inter"/>
              </a:rPr>
              <a:t>Wording   </a:t>
            </a:r>
            <a:r>
              <a:rPr sz="1250" b="0" strike="sngStrike">
                <a:solidFill>
                  <a:srgbClr val="6B6964"/>
                </a:solidFill>
                <a:latin typeface="Inter"/>
              </a:rPr>
              <a:t>Start at 10M tokens per month</a:t>
            </a:r>
            <a:r>
              <a:rPr sz="1250" b="0">
                <a:solidFill>
                  <a:srgbClr val="8A8780"/>
                </a:solidFill>
                <a:latin typeface="Inter"/>
              </a:rPr>
              <a:t>  →  </a:t>
            </a:r>
            <a:r>
              <a:rPr sz="1250" b="0">
                <a:solidFill>
                  <a:srgbClr val="6B6964"/>
                </a:solidFill>
                <a:latin typeface="Inter"/>
              </a:rPr>
              <a:t>10M tokens/month, rollover included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bolt.new/pricing</a:t>
            </a:r>
          </a:p>
        </p:txBody>
      </p:sp>
      <p:pic>
        <p:nvPicPr>
          <p:cNvPr id="4" name="Picture 3" descr="bolt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Week in progress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bolt.new/pricing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Bolt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Bolt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bolt.new</a:t>
            </a:r>
          </a:p>
        </p:txBody>
      </p:sp>
      <p:pic>
        <p:nvPicPr>
          <p:cNvPr id="4" name="Picture 3" descr="bolt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Week in progress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bolt.new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4423E"/>
      </a:hlink>
      <a:folHlink>
        <a:srgbClr val="44423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