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/pricing" TargetMode="External"/><Relationship Id="rId3" Type="http://schemas.openxmlformats.org/officeDocument/2006/relationships/hyperlink" Target="https://lovable.dev" TargetMode="External"/><Relationship Id="rId4" Type="http://schemas.openxmlformats.org/officeDocument/2006/relationships/hyperlink" Target="https://replit.com/pricing" TargetMode="External"/><Relationship Id="rId5" Type="http://schemas.openxmlformats.org/officeDocument/2006/relationships/hyperlink" Target="https://replit.com" TargetMode="External"/><Relationship Id="rId6" Type="http://schemas.openxmlformats.org/officeDocument/2006/relationships/hyperlink" Target="https://bolt.new/pricing" TargetMode="External"/><Relationship Id="rId7" Type="http://schemas.openxmlformats.org/officeDocument/2006/relationships/hyperlink" Target="https://bolt.ne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/pricing" TargetMode="Externa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vable.dev" TargetMode="Externa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pricing" TargetMode="Externa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" TargetMode="Externa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/pricing" TargetMode="Externa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olt.new" TargetMode="Externa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1087120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Competitor pages · Oct 12–18</a:t>
            </a:r>
          </a:p>
          <a:p>
            <a:pPr>
              <a:spcBef>
                <a:spcPts val="600"/>
              </a:spcBef>
            </a:pPr>
            <a:r>
              <a:rPr sz="4200" b="0" spc="-189">
                <a:solidFill>
                  <a:srgbClr val="18181B"/>
                </a:solidFill>
                <a:latin typeface="Inter Tight"/>
              </a:rPr>
              <a:t>No changes this week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6964"/>
                </a:solidFill>
                <a:latin typeface="Inter"/>
              </a:rPr>
              <a:t>Lovable, Replit and Bolt · pricing pages and homepages</a:t>
            </a:r>
          </a:p>
          <a:p>
            <a:pPr>
              <a:spcBef>
                <a:spcPts val="24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   </a:t>
            </a:r>
            <a:r>
              <a:rPr sz="1400" b="0" u="sng">
                <a:solidFill>
                  <a:srgbClr val="44423E"/>
                </a:solidFill>
                <a:latin typeface="Inter"/>
                <a:hlinkClick r:id="rId2"/>
              </a:rPr>
              <a:t>Lovable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3"/>
              </a:rPr>
              <a:t>Lovable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4"/>
              </a:rPr>
              <a:t>Replit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5"/>
              </a:rPr>
              <a:t>Replit homepage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6"/>
              </a:rPr>
              <a:t>Bolt pricing</a:t>
            </a:r>
            <a:r>
              <a:rPr sz="1400" b="0">
                <a:solidFill>
                  <a:srgbClr val="44423E"/>
                </a:solidFill>
                <a:latin typeface="Inter"/>
              </a:rPr>
              <a:t> · </a:t>
            </a:r>
            <a:r>
              <a:rPr sz="1400" b="0" u="sng">
                <a:solidFill>
                  <a:srgbClr val="44423E"/>
                </a:solidFill>
                <a:latin typeface="Inter"/>
                <a:hlinkClick r:id="rId7"/>
              </a:rPr>
              <a:t>Bolt homepage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All 6 screenshots come from the Wayback Machine (Oct 14–18), so some may be a few days old.</a:t>
            </a:r>
          </a:p>
          <a:p>
            <a:pPr>
              <a:spcBef>
                <a:spcPts val="1400"/>
              </a:spcBef>
            </a:pPr>
            <a:r>
              <a:rPr sz="1000" b="0">
                <a:solidFill>
                  <a:srgbClr val="92400E"/>
                </a:solidFill>
                <a:latin typeface="Inter"/>
              </a:rPr>
              <a:t>■  </a:t>
            </a:r>
            <a:r>
              <a:rPr sz="1400" b="0">
                <a:solidFill>
                  <a:srgbClr val="44423E"/>
                </a:solidFill>
                <a:latin typeface="Inter"/>
              </a:rPr>
              <a:t>Check by hand    </a:t>
            </a:r>
            <a:r>
              <a:rPr sz="1400" b="0">
                <a:solidFill>
                  <a:srgbClr val="44423E"/>
                </a:solidFill>
                <a:latin typeface="Inter"/>
              </a:rPr>
              <a:t>The Replit pricing screenshot shows yearly prices (the archived copy can't switch to Monthly).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6 pages · screenshots Oct 14–18 (6 archived copies)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lovable.dev/pricing</a:t>
            </a:r>
          </a:p>
        </p:txBody>
      </p:sp>
      <p:pic>
        <p:nvPicPr>
          <p:cNvPr id="4" name="Picture 3" descr="lovable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15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Lovable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Lovable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lovable.dev</a:t>
            </a:r>
          </a:p>
        </p:txBody>
      </p:sp>
      <p:pic>
        <p:nvPicPr>
          <p:cNvPr id="4" name="Picture 3" descr="lovable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lovable.dev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14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replit.com/pricing</a:t>
            </a:r>
          </a:p>
        </p:txBody>
      </p:sp>
      <p:pic>
        <p:nvPicPr>
          <p:cNvPr id="4" name="Picture 3" descr="repli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18 · archived copy · yearly prices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Replit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Replit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replit.com</a:t>
            </a:r>
          </a:p>
        </p:txBody>
      </p:sp>
      <p:pic>
        <p:nvPicPr>
          <p:cNvPr id="4" name="Picture 3" descr="repli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replit.com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16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Pricing 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pricing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bolt.new/pricing</a:t>
            </a:r>
          </a:p>
        </p:txBody>
      </p:sp>
      <p:pic>
        <p:nvPicPr>
          <p:cNvPr id="4" name="Picture 3" descr="bolt-pricing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bolt.new/pricing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16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778250" cy="571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cap="all" spc="90">
                <a:solidFill>
                  <a:srgbClr val="6B6964"/>
                </a:solidFill>
                <a:latin typeface="Inter"/>
              </a:rPr>
              <a:t>Bolt · Homepage</a:t>
            </a:r>
          </a:p>
          <a:p>
            <a:pPr>
              <a:spcBef>
                <a:spcPts val="600"/>
              </a:spcBef>
            </a:pPr>
            <a:r>
              <a:rPr sz="4000" b="0" spc="-179">
                <a:solidFill>
                  <a:srgbClr val="18181B"/>
                </a:solidFill>
                <a:latin typeface="Inter Tight"/>
              </a:rPr>
              <a:t>Bolt homepage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D6D3CC"/>
                </a:solidFill>
                <a:latin typeface="Inter"/>
              </a:rPr>
              <a:t>●  </a:t>
            </a:r>
            <a:r>
              <a:rPr sz="1400" b="0">
                <a:solidFill>
                  <a:srgbClr val="44423E"/>
                </a:solidFill>
                <a:latin typeface="Inter"/>
              </a:rPr>
              <a:t>No change this week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972050" y="609600"/>
            <a:ext cx="6559550" cy="279400"/>
          </a:xfrm>
          <a:prstGeom prst="rect">
            <a:avLst/>
          </a:prstGeom>
          <a:solidFill>
            <a:srgbClr val="F7F6F3"/>
          </a:solidFill>
          <a:ln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6964"/>
                </a:solidFill>
                <a:latin typeface="Geist Mono"/>
              </a:rPr>
              <a:t>bolt.new</a:t>
            </a:r>
          </a:p>
        </p:txBody>
      </p:sp>
      <p:pic>
        <p:nvPicPr>
          <p:cNvPr id="4" name="Picture 3" descr="bolt-home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89000"/>
            <a:ext cx="6559550" cy="4555243"/>
          </a:xfrm>
          <a:prstGeom prst="rect">
            <a:avLst/>
          </a:prstGeom>
          <a:ln>
            <a:solidFill>
              <a:srgbClr val="ECEA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64643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Deck for Mon, Oct 19 · Source: </a:t>
            </a:r>
            <a:r>
              <a:rPr sz="900" b="0" u="sng">
                <a:solidFill>
                  <a:srgbClr val="8A8780"/>
                </a:solidFill>
                <a:latin typeface="Inter"/>
                <a:hlinkClick r:id="rId2"/>
              </a:rPr>
              <a:t>bolt.new</a:t>
            </a:r>
            <a:r>
              <a:rPr sz="900" b="0">
                <a:solidFill>
                  <a:srgbClr val="8A8780"/>
                </a:solidFill>
                <a:latin typeface="Inter"/>
              </a:rPr>
              <a:t> · Screenshot Oct 14 · archived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6600" y="6464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8A8780"/>
                </a:solidFill>
                <a:latin typeface="Inter"/>
              </a:rPr>
              <a:t>Competitor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23E"/>
      </a:hlink>
      <a:folHlink>
        <a:srgbClr val="4442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